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B88E"/>
                </a:solidFill>
                <a:latin typeface="Calibri"/>
              </a:rPr>
              <a:t>CANDIDATE BRIEF  ·  AI-LED PROCESS IN BANKING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7F5F0"/>
                </a:solidFill>
                <a:latin typeface="Calibri"/>
              </a:rPr>
              <a:t>Closer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A8B5B0"/>
                </a:solidFill>
                <a:latin typeface="Calibri"/>
              </a:rPr>
              <a:t>An AI banking experience for students who finally have money —
and no idea what they can safely spend.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834640"/>
            <a:ext cx="5303520" cy="2286000"/>
          </a:xfrm>
          <a:prstGeom prst="roundRect">
            <a:avLst>
              <a:gd name="adj" fmla="val 8000"/>
            </a:avLst>
          </a:prstGeom>
          <a:solidFill>
            <a:srgbClr val="142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9718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B88E"/>
                </a:solidFill>
                <a:latin typeface="Calibri"/>
              </a:rPr>
              <a:t>AUDIENCE (FROM BRIEF)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8328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F7F5F0"/>
                </a:solidFill>
                <a:latin typeface="Calibri"/>
              </a:rPr>
              <a:t>College students managing money independently for the first time.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A8B5B0"/>
                </a:solidFill>
                <a:latin typeface="Calibri"/>
              </a:rPr>
              <a:t>Income from jobs / internships · tuition &amp; rent · multiple payment apps (Venmo, campus card, checking).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834640"/>
            <a:ext cx="5303520" cy="2286000"/>
          </a:xfrm>
          <a:prstGeom prst="roundRect">
            <a:avLst>
              <a:gd name="adj" fmla="val 8000"/>
            </a:avLst>
          </a:prstGeom>
          <a:solidFill>
            <a:srgbClr val="142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9718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B88E"/>
                </a:solidFill>
                <a:latin typeface="Calibri"/>
              </a:rPr>
              <a:t>CORE PROBLEM (FROM BRIEF)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38328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7F5F0"/>
                </a:solidFill>
                <a:latin typeface="Calibri"/>
              </a:rPr>
              <a:t>They struggle to understand how much they can safely spend.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A8B5B0"/>
                </a:solidFill>
                <a:latin typeface="Calibri"/>
              </a:rPr>
              <a:t>Not “teach accounting.” Make safe spend, shocks, and goals legible — then act with AI.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349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7F5F0"/>
                </a:solidFill>
                <a:latin typeface="Calibri"/>
              </a:rPr>
              <a:t>POV: Safe spend = balance after protected bills, risk cushion, and goal earmarks. Progress = days closer to real goals.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B5B0"/>
                </a:solidFill>
                <a:latin typeface="Calibri"/>
              </a:rPr>
              <a:t>Infosys Consulting  ·  AI Case Presentation  ·  FS Banking &amp; Payments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8B5B0"/>
                </a:solidFill>
                <a:latin typeface="Calibri"/>
              </a:rP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B88E"/>
                </a:solidFill>
                <a:latin typeface="Calibri"/>
              </a:rPr>
              <a:t>KEY OBSERVATIONS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7F5F0"/>
                </a:solidFill>
                <a:latin typeface="Calibri"/>
              </a:rPr>
              <a:t>Students are overconfident — and underinsured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3566160" cy="1691640"/>
          </a:xfrm>
          <a:prstGeom prst="roundRect">
            <a:avLst>
              <a:gd name="adj" fmla="val 8000"/>
            </a:avLst>
          </a:prstGeom>
          <a:solidFill>
            <a:srgbClr val="142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3DB88E"/>
                </a:solidFill>
                <a:latin typeface="Calibri"/>
              </a:rPr>
              <a:t>64%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7F5F0"/>
                </a:solidFill>
                <a:latin typeface="Calibri"/>
              </a:rPr>
              <a:t>Confident managing
basic budgeting &amp; saving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5B0"/>
                </a:solidFill>
                <a:latin typeface="Calibri"/>
              </a:rPr>
              <a:t>CFP Board · Fall 2025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325880"/>
            <a:ext cx="3566160" cy="1691640"/>
          </a:xfrm>
          <a:prstGeom prst="roundRect">
            <a:avLst>
              <a:gd name="adj" fmla="val 8000"/>
            </a:avLst>
          </a:prstGeom>
          <a:solidFill>
            <a:srgbClr val="142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630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E8A83C"/>
                </a:solidFill>
                <a:latin typeface="Calibri"/>
              </a:rPr>
              <a:t>~25%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05740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7F5F0"/>
                </a:solidFill>
                <a:latin typeface="Calibri"/>
              </a:rPr>
              <a:t>Solidly understand full
college cost to budget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69748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5B0"/>
                </a:solidFill>
                <a:latin typeface="Calibri"/>
              </a:rPr>
              <a:t>IHE Student Voice · 2025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325880"/>
            <a:ext cx="3566160" cy="1691640"/>
          </a:xfrm>
          <a:prstGeom prst="roundRect">
            <a:avLst>
              <a:gd name="adj" fmla="val 8000"/>
            </a:avLst>
          </a:prstGeom>
          <a:solidFill>
            <a:srgbClr val="142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4630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E06C5C"/>
                </a:solidFill>
                <a:latin typeface="Calibri"/>
              </a:rPr>
              <a:t>42%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05740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7F5F0"/>
                </a:solidFill>
                <a:latin typeface="Calibri"/>
              </a:rPr>
              <a:t>Gen Z living paycheck
to paycheck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69748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5B0"/>
                </a:solidFill>
                <a:latin typeface="Calibri"/>
              </a:rPr>
              <a:t>Bank of America ·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200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B88E"/>
                </a:solidFill>
                <a:latin typeface="Calibri"/>
              </a:rPr>
              <a:t>FRAGILITY — THEY CANNOT PLAN FOR THE UNEXPECTED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56616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7F5F0"/>
                </a:solidFill>
                <a:latin typeface="Calibri"/>
              </a:rPr>
              <a:t>Trouble raising $500 for a shock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94960" y="3611879"/>
            <a:ext cx="5029200" cy="182880"/>
          </a:xfrm>
          <a:prstGeom prst="roundRect">
            <a:avLst>
              <a:gd name="adj" fmla="val 50000"/>
            </a:avLst>
          </a:prstGeom>
          <a:solidFill>
            <a:srgbClr val="1A2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394960" y="3611879"/>
            <a:ext cx="2816352" cy="182880"/>
          </a:xfrm>
          <a:prstGeom prst="roundRect">
            <a:avLst>
              <a:gd name="adj" fmla="val 50000"/>
            </a:avLst>
          </a:prstGeom>
          <a:solidFill>
            <a:srgbClr val="2F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0" y="35661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7F5F0"/>
                </a:solidFill>
                <a:latin typeface="Calibri"/>
              </a:rPr>
              <a:t>56%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950208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7F5F0"/>
                </a:solidFill>
                <a:latin typeface="Calibri"/>
              </a:rPr>
              <a:t>Ran out of money at least once (2024)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94960" y="3995928"/>
            <a:ext cx="5029200" cy="182880"/>
          </a:xfrm>
          <a:prstGeom prst="roundRect">
            <a:avLst>
              <a:gd name="adj" fmla="val 50000"/>
            </a:avLst>
          </a:prstGeom>
          <a:solidFill>
            <a:srgbClr val="1A2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394960" y="3995928"/>
            <a:ext cx="3419856" cy="182880"/>
          </a:xfrm>
          <a:prstGeom prst="roundRect">
            <a:avLst>
              <a:gd name="adj" fmla="val 50000"/>
            </a:avLst>
          </a:prstGeom>
          <a:solidFill>
            <a:srgbClr val="E8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0" y="395020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7F5F0"/>
                </a:solidFill>
                <a:latin typeface="Calibri"/>
              </a:rPr>
              <a:t>68%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334256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7F5F0"/>
                </a:solidFill>
                <a:latin typeface="Calibri"/>
              </a:rPr>
              <a:t>≤$1,000 shock could threaten enrollment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94960" y="4379976"/>
            <a:ext cx="5029200" cy="182880"/>
          </a:xfrm>
          <a:prstGeom prst="roundRect">
            <a:avLst>
              <a:gd name="adj" fmla="val 50000"/>
            </a:avLst>
          </a:prstGeom>
          <a:solidFill>
            <a:srgbClr val="1A2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394960" y="4379976"/>
            <a:ext cx="1810512" cy="182880"/>
          </a:xfrm>
          <a:prstGeom prst="roundRect">
            <a:avLst>
              <a:gd name="adj" fmla="val 50000"/>
            </a:avLst>
          </a:prstGeom>
          <a:solidFill>
            <a:srgbClr val="2F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0" y="433425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7F5F0"/>
                </a:solidFill>
                <a:latin typeface="Calibri"/>
              </a:rPr>
              <a:t>36%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718304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7F5F0"/>
                </a:solidFill>
                <a:latin typeface="Calibri"/>
              </a:rPr>
              <a:t>Unaware if campus offers emergency aid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394960" y="4764024"/>
            <a:ext cx="5029200" cy="182880"/>
          </a:xfrm>
          <a:prstGeom prst="roundRect">
            <a:avLst>
              <a:gd name="adj" fmla="val 50000"/>
            </a:avLst>
          </a:prstGeom>
          <a:solidFill>
            <a:srgbClr val="1A2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394960" y="4764024"/>
            <a:ext cx="3218688" cy="182880"/>
          </a:xfrm>
          <a:prstGeom prst="roundRect">
            <a:avLst>
              <a:gd name="adj" fmla="val 50000"/>
            </a:avLst>
          </a:prstGeom>
          <a:solidFill>
            <a:srgbClr val="E8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15600" y="47183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7F5F0"/>
                </a:solidFill>
                <a:latin typeface="Calibri"/>
              </a:rPr>
              <a:t>64%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257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B5B0"/>
                </a:solidFill>
                <a:latin typeface="Calibri"/>
              </a:rPr>
              <a:t>Also: Convenience waste (delivery, rideshare, subscriptions) is where “I’ll save later” dies — Gen Z cuts apparel but still spends on experiences (McKinsey / PwC). 89% of student card users put basics on plastic (Trellis).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B5B0"/>
                </a:solidFill>
                <a:latin typeface="Calibri"/>
              </a:rPr>
              <a:t>Infosys Consulting  ·  AI Case Presentation  ·  FS Banking &amp; Payments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8B5B0"/>
                </a:solidFill>
                <a:latin typeface="Calibri"/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B88E"/>
                </a:solidFill>
                <a:latin typeface="Calibri"/>
              </a:rPr>
              <a:t>RECOMMENDED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7F5F0"/>
                </a:solidFill>
                <a:latin typeface="Calibri"/>
              </a:rPr>
              <a:t>Measure saving in units of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8B5B0"/>
                </a:solidFill>
                <a:latin typeface="Calibri"/>
              </a:rPr>
              <a:t>Dollars are abstract. “Six days earlier” is felt.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5303520" cy="2194560"/>
          </a:xfrm>
          <a:prstGeom prst="roundRect">
            <a:avLst>
              <a:gd name="adj" fmla="val 8000"/>
            </a:avLst>
          </a:prstGeom>
          <a:solidFill>
            <a:srgbClr val="142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8B5B0"/>
                </a:solidFill>
                <a:latin typeface="Calibri"/>
              </a:rPr>
              <a:t>WHAT BANKS USUALLY 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F7F5F0"/>
                </a:solidFill>
                <a:latin typeface="Calibri"/>
              </a:rPr>
              <a:t>“You spent $14 on DoorDash.”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A8B5B0"/>
                </a:solidFill>
                <a:latin typeface="Calibri"/>
              </a:rPr>
              <a:t>Shame → ignore → repeat.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A8B5B0"/>
                </a:solidFill>
                <a:latin typeface="Calibri"/>
              </a:rPr>
              <a:t>Category pies with no calendar — no link to concert night or spring break.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5303520" cy="2194560"/>
          </a:xfrm>
          <a:prstGeom prst="roundRect">
            <a:avLst>
              <a:gd name="adj" fmla="val 8000"/>
            </a:avLst>
          </a:prstGeom>
          <a:solidFill>
            <a:srgbClr val="142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874519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B88E"/>
                </a:solidFill>
                <a:latin typeface="Calibri"/>
              </a:rPr>
              <a:t>WHAT WE RECOMMEND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24028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7F5F0"/>
                </a:solidFill>
                <a:latin typeface="Calibri"/>
              </a:rPr>
              <a:t>“Skip one delivery → Fall concert moves 5 days closer.”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A8B5B0"/>
                </a:solidFill>
                <a:latin typeface="Calibri"/>
              </a:rPr>
              <a:t>Same $14 — now it’s a date on the wall.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A8B5B0"/>
                </a:solidFill>
                <a:latin typeface="Calibri"/>
              </a:rPr>
              <a:t>AI tips ranked by days gained vs lifestyle friction. Student accepts or rejects.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60520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142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297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B88E"/>
                </a:solidFill>
                <a:latin typeface="Calibri"/>
              </a:rPr>
              <a:t>1 · SAFE SPEND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7091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7F5F0"/>
                </a:solidFill>
                <a:latin typeface="Calibri"/>
              </a:rPr>
              <a:t>Free-to-spend = checking − protected bills (rent, tuition, meal plan, car loan) − risk cushion − goal earmarks.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4160520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142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4297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B88E"/>
                </a:solidFill>
                <a:latin typeface="Calibri"/>
              </a:rPr>
              <a:t>2 · TIME AS CURRENCY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47091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7F5F0"/>
                </a:solidFill>
                <a:latin typeface="Calibri"/>
              </a:rPr>
              <a:t>Every AI action answers: how many days closer? Habit cuts, surplus moves, and portfolio reshuffles share that score.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4160520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142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4297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B88E"/>
                </a:solidFill>
                <a:latin typeface="Calibri"/>
              </a:rPr>
              <a:t>3 · HONEST PORTFOLIOS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7091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7F5F0"/>
                </a:solidFill>
                <a:latin typeface="Calibri"/>
              </a:rPr>
              <a:t>Fixed dates (concert, spring break) don’t slide. Flexible wants can yield. Obligations stay obligations — never fake goals.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B5B0"/>
                </a:solidFill>
                <a:latin typeface="Calibri"/>
              </a:rPr>
              <a:t>Infosys Consulting  ·  AI Case Presentation  ·  FS Banking &amp; Payments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8B5B0"/>
                </a:solidFill>
                <a:latin typeface="Calibri"/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B88E"/>
                </a:solidFill>
                <a:latin typeface="Calibri"/>
              </a:rPr>
              <a:t>AI-BUILT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7F5F0"/>
                </a:solidFill>
                <a:latin typeface="Calibri"/>
              </a:rPr>
              <a:t>Closer — live decisioning on a student ledger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8B5B0"/>
                </a:solidFill>
                <a:latin typeface="Calibri"/>
              </a:rPr>
              <a:t>Vibe-coded Next.js demo · mock multi-rail history · two personas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303520" cy="1828800"/>
          </a:xfrm>
          <a:prstGeom prst="roundRect">
            <a:avLst>
              <a:gd name="adj" fmla="val 8000"/>
            </a:avLst>
          </a:prstGeom>
          <a:solidFill>
            <a:srgbClr val="142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A83C"/>
                </a:solidFill>
                <a:latin typeface="Calibri"/>
              </a:rPr>
              <a:t>JORDAN · COURSE CORRECT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7F5F0"/>
                </a:solidFill>
                <a:latin typeface="Calibri"/>
              </a:rPr>
              <a:t>Freshman cash-flow fire drill — delivery, rideshare, BNPL, thin risk cushion. Diagnostic + habit tips that pull a fantasy goal back toward reality.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303520" cy="1828800"/>
          </a:xfrm>
          <a:prstGeom prst="roundRect">
            <a:avLst>
              <a:gd name="adj" fmla="val 8000"/>
            </a:avLst>
          </a:prstGeom>
          <a:solidFill>
            <a:srgbClr val="142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8288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DB88E"/>
                </a:solidFill>
                <a:latin typeface="Calibri"/>
              </a:rPr>
              <a:t>MAYA · PORTFOLIO SQUEEZE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19456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7F5F0"/>
                </a:solidFill>
                <a:latin typeface="Calibri"/>
              </a:rPr>
              <a:t>“Doing fine” sophomore — car loan on protected bills (not a goal), competing wants (concert, AirPods, spring break). Freedom + security without austerity theater.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749039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B88E"/>
                </a:solidFill>
                <a:latin typeface="Calibri"/>
              </a:rPr>
              <a:t>WHAT THE AI ACTUALLY DOES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6908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7F5F0"/>
                </a:solidFill>
                <a:latin typeface="Calibri"/>
              </a:rPr>
              <a:t>→  Surfaces unnecessary spend patterns (delivery, rideshare, BNPL, coffee) as days-closer tips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36168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7F5F0"/>
                </a:solidFill>
                <a:latin typeface="Calibri"/>
              </a:rPr>
              <a:t>→  Moves free-to-spend into goals; rearranges reserves across ranked goals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65429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7F5F0"/>
                </a:solidFill>
                <a:latin typeface="Calibri"/>
              </a:rPr>
              <a:t>→  Protects fixed deadlines; never slides spring break to fund a soft want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94690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7F5F0"/>
                </a:solidFill>
                <a:latin typeface="Calibri"/>
              </a:rPr>
              <a:t>→  Keeps car loan / rent / tuition as protected obligations — not savings goals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23951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7F5F0"/>
                </a:solidFill>
                <a:latin typeface="Calibri"/>
              </a:rPr>
              <a:t>→  Student agency: accept or reject every recommendation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6235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B5B0"/>
                </a:solidFill>
                <a:latin typeface="Calibri"/>
              </a:rPr>
              <a:t>Banking insight: AI sits on deposit + payment rails students already use. Value is decisioning — safe spend, shock buffers, goal pacing — not another wallet.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B5B0"/>
                </a:solidFill>
                <a:latin typeface="Calibri"/>
              </a:rPr>
              <a:t>Infosys Consulting  ·  AI Case Presentation  ·  FS Banking &amp; Payments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8B5B0"/>
                </a:solidFill>
                <a:latin typeface="Calibri"/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B88E"/>
                </a:solidFill>
                <a:latin typeface="Calibri"/>
              </a:rPr>
              <a:t>DEMO PATH  ·  INSIGHTS &amp; CONSIDERATIONS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7F5F0"/>
                </a:solidFill>
                <a:latin typeface="Calibri"/>
              </a:rPr>
              <a:t>Live walkthrough · Maya (~4 minutes)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11064240" cy="777240"/>
          </a:xfrm>
          <a:prstGeom prst="roundRect">
            <a:avLst>
              <a:gd name="adj" fmla="val 8000"/>
            </a:avLst>
          </a:prstGeom>
          <a:solidFill>
            <a:srgbClr val="142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63039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DB88E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435607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7F5F0"/>
                </a:solidFill>
                <a:latin typeface="Calibri"/>
              </a:rPr>
              <a:t>Login → diagnostic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73736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B5B0"/>
                </a:solidFill>
                <a:latin typeface="Calibri"/>
              </a:rPr>
              <a:t>Show car loan inside protected obligations. Free-to-spend after bills + risk + earmarks.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94560"/>
            <a:ext cx="11064240" cy="777240"/>
          </a:xfrm>
          <a:prstGeom prst="roundRect">
            <a:avLst>
              <a:gd name="adj" fmla="val 8000"/>
            </a:avLst>
          </a:prstGeom>
          <a:solidFill>
            <a:srgbClr val="142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3317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DB88E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04288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7F5F0"/>
                </a:solidFill>
                <a:latin typeface="Calibri"/>
              </a:rPr>
              <a:t>Goals · ranked feasibility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6060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B5B0"/>
                </a:solidFill>
                <a:latin typeface="Calibri"/>
              </a:rPr>
              <a:t>Expand fixed-date goals vs flexible AirPods. Portfolio optimize tips below.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063239"/>
            <a:ext cx="11064240" cy="777240"/>
          </a:xfrm>
          <a:prstGeom prst="roundRect">
            <a:avLst>
              <a:gd name="adj" fmla="val 8000"/>
            </a:avLst>
          </a:prstGeom>
          <a:solidFill>
            <a:srgbClr val="142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200399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DB88E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172968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7F5F0"/>
                </a:solidFill>
                <a:latin typeface="Calibri"/>
              </a:rPr>
              <a:t>Accept an AI tip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47472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B5B0"/>
                </a:solidFill>
                <a:latin typeface="Calibri"/>
              </a:rPr>
              <a:t>Rearrange or surplus → days closer. Bills untouched. Reject shows agency.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931920"/>
            <a:ext cx="11064240" cy="777240"/>
          </a:xfrm>
          <a:prstGeom prst="roundRect">
            <a:avLst>
              <a:gd name="adj" fmla="val 8000"/>
            </a:avLst>
          </a:prstGeom>
          <a:solidFill>
            <a:srgbClr val="142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0690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DB88E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041648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7F5F0"/>
                </a:solidFill>
                <a:latin typeface="Calibri"/>
              </a:rPr>
              <a:t>Add ~$2,000 goal as #1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34340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B5B0"/>
                </a:solidFill>
                <a:latin typeface="Calibri"/>
              </a:rPr>
              <a:t>Tips refresh without sliding hard dates or raiding the car note. Optional: Jordan rescue arc.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937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7F5F0"/>
                </a:solidFill>
                <a:latin typeface="Calibri"/>
              </a:rPr>
              <a:t>Close: Closer answers the brief — how much can I safely spend? — then turns leftover life into days toward goals, while keeping students enrolled through shocks they don’t plan for.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760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B5B0"/>
                </a:solidFill>
                <a:latin typeface="Calibri"/>
              </a:rPr>
              <a:t>Considerations: time framing &gt; dollar shaming · fixed-deadline product rules (not just LLM copy) · next: real aggregators, model risk, explainability for regulated advice.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B5B0"/>
                </a:solidFill>
                <a:latin typeface="Calibri"/>
              </a:rPr>
              <a:t>Infosys Consulting  ·  AI Case Presentation  ·  FS Banking &amp; Payments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8B5B0"/>
                </a:solidFill>
                <a:latin typeface="Calibri"/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